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E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3429000" cy="10287000"/>
            <a:chOff x="0" y="0"/>
            <a:chExt cx="457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2F33">
                    <a:alpha val="100000"/>
                  </a:srgbClr>
                </a:gs>
                <a:gs pos="100000">
                  <a:srgbClr val="072F33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7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750" y="1000125"/>
            <a:ext cx="1428750" cy="114300"/>
            <a:chOff x="0" y="0"/>
            <a:chExt cx="190500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000" cy="152400"/>
            </a:xfrm>
            <a:custGeom>
              <a:avLst/>
              <a:gdLst/>
              <a:ahLst/>
              <a:cxnLst/>
              <a:rect r="r" b="b" t="t" l="l"/>
              <a:pathLst>
                <a:path h="1524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E8A6B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050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-8205"/>
            <a:ext cx="2722292" cy="1551255"/>
          </a:xfrm>
          <a:custGeom>
            <a:avLst/>
            <a:gdLst/>
            <a:ahLst/>
            <a:cxnLst/>
            <a:rect r="r" b="b" t="t" l="l"/>
            <a:pathLst>
              <a:path h="1551255" w="2722292">
                <a:moveTo>
                  <a:pt x="0" y="0"/>
                </a:moveTo>
                <a:lnTo>
                  <a:pt x="2722292" y="0"/>
                </a:lnTo>
                <a:lnTo>
                  <a:pt x="2722292" y="1551255"/>
                </a:lnTo>
                <a:lnTo>
                  <a:pt x="0" y="1551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416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7750" y="1762125"/>
            <a:ext cx="8572500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9"/>
              </a:lnSpc>
            </a:pPr>
            <a:r>
              <a:rPr lang="en-US" sz="7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AZ-900</a:t>
            </a:r>
          </a:p>
          <a:p>
            <a:pPr algn="l">
              <a:lnSpc>
                <a:spcPts val="7409"/>
              </a:lnSpc>
            </a:pPr>
            <a:r>
              <a:rPr lang="en-US" sz="7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QUIZ</a:t>
            </a:r>
          </a:p>
          <a:p>
            <a:pPr algn="l">
              <a:lnSpc>
                <a:spcPts val="7409"/>
              </a:lnSpc>
            </a:pPr>
            <a:r>
              <a:rPr lang="en-US" sz="7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4772025"/>
            <a:ext cx="72390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111111"/>
                </a:solidFill>
                <a:latin typeface="DM Sans"/>
                <a:ea typeface="DM Sans"/>
                <a:cs typeface="DM Sans"/>
                <a:sym typeface="DM Sans"/>
              </a:rPr>
              <a:t>Making Azure Fundamentals easier through interactive practice and African-context learning.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8201025"/>
            <a:ext cx="4953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spc="120">
                <a:solidFill>
                  <a:srgbClr val="111111"/>
                </a:solidFill>
                <a:latin typeface="DM Sans Bold"/>
                <a:ea typeface="DM Sans Bold"/>
                <a:cs typeface="DM Sans Bold"/>
                <a:sym typeface="DM Sans Bold"/>
              </a:rPr>
              <a:t>VIBE CODING HACKATHON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8782050"/>
            <a:ext cx="7429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F1737"/>
                </a:solidFill>
                <a:latin typeface="DM Sans"/>
                <a:ea typeface="DM Sans"/>
                <a:cs typeface="DM Sans"/>
                <a:sym typeface="DM Sans"/>
              </a:rPr>
              <a:t>Lovable  •  React  •  TypeScript  •  Supabase  •  GitHub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2750" y="0"/>
            <a:ext cx="3905250" cy="3905250"/>
            <a:chOff x="0" y="0"/>
            <a:chExt cx="5207000" cy="5207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70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5207000"/>
                  </a:lnTo>
                  <a:lnTo>
                    <a:pt x="0" y="5207000"/>
                  </a:lnTo>
                  <a:close/>
                </a:path>
              </a:pathLst>
            </a:custGeom>
            <a:solidFill>
              <a:srgbClr val="5CE1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07000" cy="524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82750" y="4429125"/>
            <a:ext cx="2857500" cy="209550"/>
            <a:chOff x="0" y="0"/>
            <a:chExt cx="3810000" cy="279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279400"/>
            </a:xfrm>
            <a:custGeom>
              <a:avLst/>
              <a:gdLst/>
              <a:ahLst/>
              <a:cxnLst/>
              <a:rect r="r" b="b" t="t" l="l"/>
              <a:pathLst>
                <a:path h="2794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E8A6B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8100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47750" y="1009650"/>
            <a:ext cx="9906000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isn’t</a:t>
            </a:r>
          </a:p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same as learning.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2962275"/>
            <a:ext cx="8572500" cy="11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6F1737"/>
                </a:solidFill>
                <a:latin typeface="DM Sans"/>
                <a:ea typeface="DM Sans"/>
                <a:cs typeface="DM Sans"/>
                <a:sym typeface="DM Sans"/>
              </a:rPr>
              <a:t>Most quiz platforms reward recall — while learners still struggle to explain the concept, find weak spots, or know when they are exam-ready.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47750" y="5810250"/>
            <a:ext cx="16192500" cy="0"/>
          </a:xfrm>
          <a:prstGeom prst="line">
            <a:avLst/>
          </a:prstGeom>
          <a:ln cap="flat" w="28575">
            <a:solidFill>
              <a:srgbClr val="11111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143000" y="6419850"/>
            <a:ext cx="95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700" b="true">
                <a:solidFill>
                  <a:srgbClr val="6F17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0750" y="6419850"/>
            <a:ext cx="333375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70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Memorize</a:t>
            </a:r>
          </a:p>
          <a:p>
            <a:pPr algn="l">
              <a:lnSpc>
                <a:spcPts val="2835"/>
              </a:lnSpc>
            </a:pPr>
            <a:r>
              <a:rPr lang="en-US" sz="270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without meaning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72250" y="6419850"/>
            <a:ext cx="95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700" b="true">
                <a:solidFill>
                  <a:srgbClr val="6F17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20000" y="6419850"/>
            <a:ext cx="304800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70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Weak areas</a:t>
            </a:r>
          </a:p>
          <a:p>
            <a:pPr algn="l">
              <a:lnSpc>
                <a:spcPts val="2835"/>
              </a:lnSpc>
            </a:pPr>
            <a:r>
              <a:rPr lang="en-US" sz="270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stay hidden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06250" y="6419850"/>
            <a:ext cx="95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700" b="true">
                <a:solidFill>
                  <a:srgbClr val="6F173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54000" y="6419850"/>
            <a:ext cx="371475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70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Readiness</a:t>
            </a:r>
          </a:p>
          <a:p>
            <a:pPr algn="l">
              <a:lnSpc>
                <a:spcPts val="2835"/>
              </a:lnSpc>
            </a:pPr>
            <a:r>
              <a:rPr lang="en-US" sz="270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feels uncertain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1009650"/>
            <a:ext cx="9334500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Practice that teaches</a:t>
            </a:r>
          </a:p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while it tests.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3105150"/>
            <a:ext cx="72390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8EE3D2"/>
                </a:solidFill>
                <a:latin typeface="DM Sans"/>
                <a:ea typeface="DM Sans"/>
                <a:cs typeface="DM Sans"/>
                <a:sym typeface="DM Sans"/>
              </a:rPr>
              <a:t>AZ-900 Smart Quiz Builder transforms exam prep from memorization into true understanding.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48750" y="1476375"/>
            <a:ext cx="3429000" cy="3143250"/>
            <a:chOff x="0" y="0"/>
            <a:chExt cx="4572000" cy="4191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572000" cy="4191000"/>
              <a:chOff x="0" y="0"/>
              <a:chExt cx="4572000" cy="4191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572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8EE3D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572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71500" y="863600"/>
              <a:ext cx="3810000" cy="970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INTERACTIVE</a:t>
              </a:r>
            </a:p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QUIZZES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71500" y="3063875"/>
              <a:ext cx="1143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072F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49250" y="1476375"/>
            <a:ext cx="3429000" cy="3143250"/>
            <a:chOff x="0" y="0"/>
            <a:chExt cx="4572000" cy="4191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572000" cy="4191000"/>
              <a:chOff x="0" y="0"/>
              <a:chExt cx="4572000" cy="4191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572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7F3E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4572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71500" y="863600"/>
              <a:ext cx="3810000" cy="970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INSTANT</a:t>
              </a:r>
            </a:p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EXPLANATIONS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71500" y="3063875"/>
              <a:ext cx="1143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072F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48750" y="5191125"/>
            <a:ext cx="3429000" cy="3143250"/>
            <a:chOff x="0" y="0"/>
            <a:chExt cx="4572000" cy="4191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572000" cy="4191000"/>
              <a:chOff x="0" y="0"/>
              <a:chExt cx="4572000" cy="4191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572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7F3E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572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71500" y="863600"/>
              <a:ext cx="3810000" cy="970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READINESS</a:t>
              </a:r>
            </a:p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TRACKING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71500" y="3063875"/>
              <a:ext cx="1143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072F3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049250" y="5191125"/>
            <a:ext cx="3429000" cy="3143250"/>
            <a:chOff x="0" y="0"/>
            <a:chExt cx="4572000" cy="4191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572000" cy="4191000"/>
              <a:chOff x="0" y="0"/>
              <a:chExt cx="4572000" cy="4191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572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6F173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572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71500" y="863600"/>
              <a:ext cx="3810000" cy="970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AFRICAN</a:t>
              </a:r>
            </a:p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ANALOGIES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71500" y="3063875"/>
              <a:ext cx="1143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E8A6B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57250"/>
            <a:ext cx="11430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5025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question. Immediate clarity.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619375"/>
            <a:ext cx="7524750" cy="6419850"/>
            <a:chOff x="0" y="0"/>
            <a:chExt cx="10033000" cy="8559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33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7874000"/>
                  </a:lnTo>
                  <a:lnTo>
                    <a:pt x="0" y="787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" r="0" b="-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8216900"/>
              <a:ext cx="5080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6F173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LANDING PAGE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15500" y="2619375"/>
            <a:ext cx="7524750" cy="6419850"/>
            <a:chOff x="0" y="0"/>
            <a:chExt cx="10033000" cy="8559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33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7874000"/>
                  </a:lnTo>
                  <a:lnTo>
                    <a:pt x="0" y="787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" r="0" b="-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8216900"/>
              <a:ext cx="6350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120" b="true">
                  <a:solidFill>
                    <a:srgbClr val="6F173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QUIZ + EXPLANATION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F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810500" cy="10287000"/>
          </a:xfrm>
          <a:custGeom>
            <a:avLst/>
            <a:gdLst/>
            <a:ahLst/>
            <a:cxnLst/>
            <a:rect r="r" b="b" t="t" l="l"/>
            <a:pathLst>
              <a:path h="10287000" w="7810500">
                <a:moveTo>
                  <a:pt x="0" y="0"/>
                </a:moveTo>
                <a:lnTo>
                  <a:pt x="7810500" y="0"/>
                </a:lnTo>
                <a:lnTo>
                  <a:pt x="781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" r="0" b="-33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858250" y="1152525"/>
            <a:ext cx="7620000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concepts,</a:t>
            </a:r>
          </a:p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made local.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58250" y="2914650"/>
            <a:ext cx="7239000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E8A6BA"/>
                </a:solidFill>
                <a:latin typeface="DM Sans"/>
                <a:ea typeface="DM Sans"/>
                <a:cs typeface="DM Sans"/>
                <a:sym typeface="DM Sans"/>
              </a:rPr>
              <a:t>African Analogy Learning Mode connects abstract services to familiar everyday systems.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58250" y="5086350"/>
            <a:ext cx="3714750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Virtual Machines</a:t>
            </a:r>
          </a:p>
          <a:p>
            <a:pPr algn="l">
              <a:lnSpc>
                <a:spcPts val="1890"/>
              </a:lnSpc>
            </a:pPr>
            <a:r>
              <a:rPr lang="en-US" sz="1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Renting a boda boda vs buying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39750" y="5076825"/>
            <a:ext cx="3714750" cy="58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21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Blob Storage</a:t>
            </a:r>
          </a:p>
          <a:p>
            <a:pPr algn="l">
              <a:lnSpc>
                <a:spcPts val="2283"/>
              </a:lnSpc>
            </a:pPr>
            <a:r>
              <a:rPr lang="en-US" sz="21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cooperative warehouse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8250" y="7505700"/>
            <a:ext cx="3714750" cy="50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Load Balancer</a:t>
            </a:r>
          </a:p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traffic officer directing flow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39750" y="7505700"/>
            <a:ext cx="3714750" cy="54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02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Scaling</a:t>
            </a:r>
          </a:p>
          <a:p>
            <a:pPr algn="l">
              <a:lnSpc>
                <a:spcPts val="2126"/>
              </a:lnSpc>
            </a:pPr>
            <a:r>
              <a:rPr lang="en-US" sz="202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More matatus at rush hour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66775"/>
            <a:ext cx="8382000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learning loop,</a:t>
            </a:r>
          </a:p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 a score screen.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724150"/>
            <a:ext cx="72390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6F1737"/>
                </a:solidFill>
                <a:latin typeface="DM Sans"/>
                <a:ea typeface="DM Sans"/>
                <a:cs typeface="DM Sans"/>
                <a:sym typeface="DM Sans"/>
              </a:rPr>
              <a:t>Every answer becomes a signal for what to learn next.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4857750"/>
            <a:ext cx="4953000" cy="1714500"/>
            <a:chOff x="0" y="0"/>
            <a:chExt cx="6604000" cy="2286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2286000"/>
              <a:chOff x="0" y="0"/>
              <a:chExt cx="6604000" cy="2286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44500" y="825500"/>
              <a:ext cx="59690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Smart quiz engine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4500" y="1495425"/>
              <a:ext cx="5969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One focused question at a time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7750" y="6953250"/>
            <a:ext cx="4953000" cy="1714500"/>
            <a:chOff x="0" y="0"/>
            <a:chExt cx="6604000" cy="2286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2286000"/>
              <a:chOff x="0" y="0"/>
              <a:chExt cx="6604000" cy="2286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44500" y="825500"/>
              <a:ext cx="59690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Instant feedback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44500" y="1495425"/>
              <a:ext cx="59690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Validate and explain immediately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0" y="4857750"/>
            <a:ext cx="3381375" cy="3810000"/>
            <a:chOff x="0" y="0"/>
            <a:chExt cx="4508500" cy="5080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445000" cy="5080000"/>
              <a:chOff x="0" y="0"/>
              <a:chExt cx="4445000" cy="508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445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4445000">
                    <a:moveTo>
                      <a:pt x="0" y="0"/>
                    </a:moveTo>
                    <a:lnTo>
                      <a:pt x="4445000" y="0"/>
                    </a:lnTo>
                    <a:lnTo>
                      <a:pt x="4445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445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44500" y="815975"/>
              <a:ext cx="4064000" cy="34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Performance dashboard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44500" y="1495425"/>
              <a:ext cx="4064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Attempted, correct, incorrect, score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477500" y="4857750"/>
            <a:ext cx="3381375" cy="3810000"/>
            <a:chOff x="0" y="0"/>
            <a:chExt cx="4508500" cy="5080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445000" cy="5080000"/>
              <a:chOff x="0" y="0"/>
              <a:chExt cx="4445000" cy="508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445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4445000">
                    <a:moveTo>
                      <a:pt x="0" y="0"/>
                    </a:moveTo>
                    <a:lnTo>
                      <a:pt x="4445000" y="0"/>
                    </a:lnTo>
                    <a:lnTo>
                      <a:pt x="4445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445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44500" y="825500"/>
              <a:ext cx="40640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Readiness levels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44500" y="1495425"/>
              <a:ext cx="4064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Beginner → Intermediate → Exam Ready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192250" y="4857750"/>
            <a:ext cx="3381375" cy="3810000"/>
            <a:chOff x="0" y="0"/>
            <a:chExt cx="4508500" cy="5080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445000" cy="5080000"/>
              <a:chOff x="0" y="0"/>
              <a:chExt cx="4445000" cy="5080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445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4445000">
                    <a:moveTo>
                      <a:pt x="0" y="0"/>
                    </a:moveTo>
                    <a:lnTo>
                      <a:pt x="4445000" y="0"/>
                    </a:lnTo>
                    <a:lnTo>
                      <a:pt x="4445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6F173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4445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44500" y="815975"/>
              <a:ext cx="4064000" cy="422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Personalized insight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44500" y="1495425"/>
              <a:ext cx="4064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Topic gaps + African analogies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914400"/>
            <a:ext cx="95250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From click to insight.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295525"/>
            <a:ext cx="857250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8EE3D2"/>
                </a:solidFill>
                <a:latin typeface="DM Sans"/>
                <a:ea typeface="DM Sans"/>
                <a:cs typeface="DM Sans"/>
                <a:sym typeface="DM Sans"/>
              </a:rPr>
              <a:t>A lean architecture built for fast iteration and measurable learning.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4429125"/>
            <a:ext cx="2190750" cy="1619250"/>
            <a:chOff x="0" y="0"/>
            <a:chExt cx="2921000" cy="215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2081696"/>
                  </a:lnTo>
                  <a:cubicBezTo>
                    <a:pt x="2921000" y="2102198"/>
                    <a:pt x="2912856" y="2121861"/>
                    <a:pt x="2898358" y="2136358"/>
                  </a:cubicBezTo>
                  <a:cubicBezTo>
                    <a:pt x="2883861" y="2150856"/>
                    <a:pt x="2864198" y="2159000"/>
                    <a:pt x="2843696" y="2159000"/>
                  </a:cubicBezTo>
                  <a:lnTo>
                    <a:pt x="77304" y="2159000"/>
                  </a:lnTo>
                  <a:cubicBezTo>
                    <a:pt x="56802" y="2159000"/>
                    <a:pt x="37139" y="2150856"/>
                    <a:pt x="22642" y="2136358"/>
                  </a:cubicBezTo>
                  <a:cubicBezTo>
                    <a:pt x="8145" y="2121861"/>
                    <a:pt x="0" y="2102198"/>
                    <a:pt x="0" y="2081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F7F3E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2921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USER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162300" y="5238750"/>
            <a:ext cx="419100" cy="0"/>
          </a:xfrm>
          <a:prstGeom prst="line">
            <a:avLst/>
          </a:prstGeom>
          <a:ln cap="rnd" w="47625">
            <a:solidFill>
              <a:srgbClr val="8E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714750" y="4429125"/>
            <a:ext cx="2190750" cy="1619250"/>
            <a:chOff x="0" y="0"/>
            <a:chExt cx="2921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2081696"/>
                  </a:lnTo>
                  <a:cubicBezTo>
                    <a:pt x="2921000" y="2102198"/>
                    <a:pt x="2912856" y="2121861"/>
                    <a:pt x="2898358" y="2136358"/>
                  </a:cubicBezTo>
                  <a:cubicBezTo>
                    <a:pt x="2883861" y="2150856"/>
                    <a:pt x="2864198" y="2159000"/>
                    <a:pt x="2843696" y="2159000"/>
                  </a:cubicBezTo>
                  <a:lnTo>
                    <a:pt x="77304" y="2159000"/>
                  </a:lnTo>
                  <a:cubicBezTo>
                    <a:pt x="56802" y="2159000"/>
                    <a:pt x="37139" y="2150856"/>
                    <a:pt x="22642" y="2136358"/>
                  </a:cubicBezTo>
                  <a:cubicBezTo>
                    <a:pt x="8145" y="2121861"/>
                    <a:pt x="0" y="2102198"/>
                    <a:pt x="0" y="2081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F7F3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2921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LOVABLE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FRONTEND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019800" y="5238750"/>
            <a:ext cx="419100" cy="0"/>
          </a:xfrm>
          <a:prstGeom prst="line">
            <a:avLst/>
          </a:prstGeom>
          <a:ln cap="rnd" w="47625">
            <a:solidFill>
              <a:srgbClr val="8E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572250" y="4429125"/>
            <a:ext cx="2190750" cy="1619250"/>
            <a:chOff x="0" y="0"/>
            <a:chExt cx="2921000" cy="215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2081696"/>
                  </a:lnTo>
                  <a:cubicBezTo>
                    <a:pt x="2921000" y="2102198"/>
                    <a:pt x="2912856" y="2121861"/>
                    <a:pt x="2898358" y="2136358"/>
                  </a:cubicBezTo>
                  <a:cubicBezTo>
                    <a:pt x="2883861" y="2150856"/>
                    <a:pt x="2864198" y="2159000"/>
                    <a:pt x="2843696" y="2159000"/>
                  </a:cubicBezTo>
                  <a:lnTo>
                    <a:pt x="77304" y="2159000"/>
                  </a:lnTo>
                  <a:cubicBezTo>
                    <a:pt x="56802" y="2159000"/>
                    <a:pt x="37139" y="2150856"/>
                    <a:pt x="22642" y="2136358"/>
                  </a:cubicBezTo>
                  <a:cubicBezTo>
                    <a:pt x="8145" y="2121861"/>
                    <a:pt x="0" y="2102198"/>
                    <a:pt x="0" y="2081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F7F3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2921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SUPABASE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BACKEND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8877300" y="5238750"/>
            <a:ext cx="419100" cy="0"/>
          </a:xfrm>
          <a:prstGeom prst="line">
            <a:avLst/>
          </a:prstGeom>
          <a:ln cap="rnd" w="47625">
            <a:solidFill>
              <a:srgbClr val="8E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429750" y="4429125"/>
            <a:ext cx="2190750" cy="1619250"/>
            <a:chOff x="0" y="0"/>
            <a:chExt cx="2921000" cy="215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2081696"/>
                  </a:lnTo>
                  <a:cubicBezTo>
                    <a:pt x="2921000" y="2102198"/>
                    <a:pt x="2912856" y="2121861"/>
                    <a:pt x="2898358" y="2136358"/>
                  </a:cubicBezTo>
                  <a:cubicBezTo>
                    <a:pt x="2883861" y="2150856"/>
                    <a:pt x="2864198" y="2159000"/>
                    <a:pt x="2843696" y="2159000"/>
                  </a:cubicBezTo>
                  <a:lnTo>
                    <a:pt x="77304" y="2159000"/>
                  </a:lnTo>
                  <a:cubicBezTo>
                    <a:pt x="56802" y="2159000"/>
                    <a:pt x="37139" y="2150856"/>
                    <a:pt x="22642" y="2136358"/>
                  </a:cubicBezTo>
                  <a:cubicBezTo>
                    <a:pt x="8145" y="2121861"/>
                    <a:pt x="0" y="2102198"/>
                    <a:pt x="0" y="2081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F7F3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921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QUESTIONS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DATABASE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734800" y="5238750"/>
            <a:ext cx="419100" cy="0"/>
          </a:xfrm>
          <a:prstGeom prst="line">
            <a:avLst/>
          </a:prstGeom>
          <a:ln cap="rnd" w="47625">
            <a:solidFill>
              <a:srgbClr val="8E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287250" y="4429125"/>
            <a:ext cx="2190750" cy="1619250"/>
            <a:chOff x="0" y="0"/>
            <a:chExt cx="2921000" cy="215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2081696"/>
                  </a:lnTo>
                  <a:cubicBezTo>
                    <a:pt x="2921000" y="2102198"/>
                    <a:pt x="2912856" y="2121861"/>
                    <a:pt x="2898358" y="2136358"/>
                  </a:cubicBezTo>
                  <a:cubicBezTo>
                    <a:pt x="2883861" y="2150856"/>
                    <a:pt x="2864198" y="2159000"/>
                    <a:pt x="2843696" y="2159000"/>
                  </a:cubicBezTo>
                  <a:lnTo>
                    <a:pt x="77304" y="2159000"/>
                  </a:lnTo>
                  <a:cubicBezTo>
                    <a:pt x="56802" y="2159000"/>
                    <a:pt x="37139" y="2150856"/>
                    <a:pt x="22642" y="2136358"/>
                  </a:cubicBezTo>
                  <a:cubicBezTo>
                    <a:pt x="8145" y="2121861"/>
                    <a:pt x="0" y="2102198"/>
                    <a:pt x="0" y="2081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F7F3ED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2921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QUIZ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LOGIC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4592300" y="5238750"/>
            <a:ext cx="419100" cy="0"/>
          </a:xfrm>
          <a:prstGeom prst="line">
            <a:avLst/>
          </a:prstGeom>
          <a:ln cap="rnd" w="47625">
            <a:solidFill>
              <a:srgbClr val="8E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5144750" y="4429125"/>
            <a:ext cx="2190750" cy="1619250"/>
            <a:chOff x="0" y="0"/>
            <a:chExt cx="2921000" cy="2159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2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2081696"/>
                  </a:lnTo>
                  <a:cubicBezTo>
                    <a:pt x="2921000" y="2102198"/>
                    <a:pt x="2912856" y="2121861"/>
                    <a:pt x="2898358" y="2136358"/>
                  </a:cubicBezTo>
                  <a:cubicBezTo>
                    <a:pt x="2883861" y="2150856"/>
                    <a:pt x="2864198" y="2159000"/>
                    <a:pt x="2843696" y="2159000"/>
                  </a:cubicBezTo>
                  <a:lnTo>
                    <a:pt x="77304" y="2159000"/>
                  </a:lnTo>
                  <a:cubicBezTo>
                    <a:pt x="56802" y="2159000"/>
                    <a:pt x="37139" y="2150856"/>
                    <a:pt x="22642" y="2136358"/>
                  </a:cubicBezTo>
                  <a:cubicBezTo>
                    <a:pt x="8145" y="2121861"/>
                    <a:pt x="0" y="2102198"/>
                    <a:pt x="0" y="2081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6F1737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2921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ANALYTICS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DASHBOARD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381250" y="7620000"/>
            <a:ext cx="13525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E8A6BA"/>
                </a:solidFill>
                <a:latin typeface="DM Sans Bold"/>
                <a:ea typeface="DM Sans Bold"/>
                <a:cs typeface="DM Sans Bold"/>
                <a:sym typeface="DM Sans Bold"/>
              </a:rPr>
              <a:t>React  •  TypeScript  •  Tailwind CSS  •  Supabase  •  GitHub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1047750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Built. Integrated. Ready.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2200275"/>
            <a:ext cx="809625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6F1737"/>
                </a:solidFill>
                <a:latin typeface="DM Sans"/>
                <a:ea typeface="DM Sans"/>
                <a:cs typeface="DM Sans"/>
                <a:sym typeface="DM Sans"/>
              </a:rPr>
              <a:t>A working product shaped through disciplined collaboration.</a:t>
            </a:r>
          </a:p>
        </p:txBody>
      </p:sp>
      <p:sp>
        <p:nvSpPr>
          <p:cNvPr name="AutoShape 4" id="4"/>
          <p:cNvSpPr/>
          <p:nvPr/>
        </p:nvSpPr>
        <p:spPr>
          <a:xfrm>
            <a:off x="1714500" y="5286375"/>
            <a:ext cx="14859000" cy="0"/>
          </a:xfrm>
          <a:prstGeom prst="line">
            <a:avLst/>
          </a:prstGeom>
          <a:ln cap="rnd" w="76200">
            <a:solidFill>
              <a:srgbClr val="072F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66750" y="4953000"/>
            <a:ext cx="2095500" cy="1666875"/>
            <a:chOff x="0" y="0"/>
            <a:chExt cx="2794000" cy="22225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952500" y="0"/>
              <a:ext cx="889000" cy="889000"/>
              <a:chOff x="0" y="0"/>
              <a:chExt cx="889000" cy="889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89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1358900"/>
              <a:ext cx="27940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UI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COMPLETE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38550" y="3714750"/>
            <a:ext cx="2095500" cy="1905000"/>
            <a:chOff x="0" y="0"/>
            <a:chExt cx="2794000" cy="2540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952500" y="1651000"/>
              <a:ext cx="889000" cy="889000"/>
              <a:chOff x="0" y="0"/>
              <a:chExt cx="889000" cy="889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889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27940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DATABASE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READY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10350" y="4953000"/>
            <a:ext cx="2095500" cy="1666875"/>
            <a:chOff x="0" y="0"/>
            <a:chExt cx="2794000" cy="22225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952500" y="0"/>
              <a:ext cx="889000" cy="889000"/>
              <a:chOff x="0" y="0"/>
              <a:chExt cx="889000" cy="889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89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1358900"/>
              <a:ext cx="27940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QUIZ ENGINE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OPERATIONAL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82150" y="3714750"/>
            <a:ext cx="2095500" cy="1905000"/>
            <a:chOff x="0" y="0"/>
            <a:chExt cx="2794000" cy="254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952500" y="1651000"/>
              <a:ext cx="889000" cy="889000"/>
              <a:chOff x="0" y="0"/>
              <a:chExt cx="889000" cy="889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89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-38100"/>
              <a:ext cx="27940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ANALYTICS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READY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553950" y="4953000"/>
            <a:ext cx="2095500" cy="1666875"/>
            <a:chOff x="0" y="0"/>
            <a:chExt cx="2794000" cy="2222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952500" y="0"/>
              <a:ext cx="889000" cy="889000"/>
              <a:chOff x="0" y="0"/>
              <a:chExt cx="889000" cy="889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89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1358900"/>
              <a:ext cx="27940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ANALOGIES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DEVELOPED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525750" y="3714750"/>
            <a:ext cx="2095500" cy="1905000"/>
            <a:chOff x="0" y="0"/>
            <a:chExt cx="2794000" cy="2540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952500" y="1651000"/>
              <a:ext cx="889000" cy="889000"/>
              <a:chOff x="0" y="0"/>
              <a:chExt cx="889000" cy="889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444500" y="0"/>
                    </a:moveTo>
                    <a:cubicBezTo>
                      <a:pt x="689991" y="0"/>
                      <a:pt x="889000" y="199009"/>
                      <a:pt x="889000" y="444500"/>
                    </a:cubicBezTo>
                    <a:cubicBezTo>
                      <a:pt x="889000" y="689991"/>
                      <a:pt x="689991" y="889000"/>
                      <a:pt x="444500" y="889000"/>
                    </a:cubicBezTo>
                    <a:cubicBezTo>
                      <a:pt x="199009" y="889000"/>
                      <a:pt x="0" y="689991"/>
                      <a:pt x="0" y="444500"/>
                    </a:cubicBezTo>
                    <a:cubicBezTo>
                      <a:pt x="0" y="199009"/>
                      <a:pt x="199009" y="0"/>
                      <a:pt x="444500" y="0"/>
                    </a:cubicBezTo>
                    <a:close/>
                  </a:path>
                </a:pathLst>
              </a:custGeom>
              <a:solidFill>
                <a:srgbClr val="6F173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889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-38100"/>
              <a:ext cx="2794000" cy="863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GITHUB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1111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WORKFLOW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571750" y="8534400"/>
            <a:ext cx="13144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072F33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 branches  •  Pull requests  •  Code reviews  •  Shared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6F1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962025"/>
            <a:ext cx="8096250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Confidence before</a:t>
            </a:r>
          </a:p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certification.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858250" y="4095750"/>
            <a:ext cx="76200" cy="4476750"/>
            <a:chOff x="0" y="0"/>
            <a:chExt cx="101600" cy="596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E8A6B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44386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E8A6BA"/>
                </a:solidFill>
                <a:latin typeface="DM Sans Bold"/>
                <a:ea typeface="DM Sans Bold"/>
                <a:cs typeface="DM Sans Bold"/>
                <a:sym typeface="DM Sans Bold"/>
              </a:rPr>
              <a:t>EDUCATIONAL VALUE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4953000"/>
            <a:ext cx="6858000" cy="128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Concept-based learning</a:t>
            </a:r>
          </a:p>
          <a:p>
            <a:pPr algn="l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More effective exam preparation</a:t>
            </a:r>
          </a:p>
          <a:p>
            <a:pPr algn="l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Clearer readiness and confidence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1250" y="4438650"/>
            <a:ext cx="3810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8EE3D2"/>
                </a:solidFill>
                <a:latin typeface="DM Sans Bold"/>
                <a:ea typeface="DM Sans Bold"/>
                <a:cs typeface="DM Sans Bold"/>
                <a:sym typeface="DM Sans Bold"/>
              </a:rPr>
              <a:t>SOCIAL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1250" y="4953000"/>
            <a:ext cx="6953250" cy="1284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literacy and digital skills</a:t>
            </a:r>
          </a:p>
          <a:p>
            <a:pPr algn="l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Accessible learning across Africa</a:t>
            </a:r>
          </a:p>
          <a:p>
            <a:pPr algn="l">
              <a:lnSpc>
                <a:spcPts val="3442"/>
              </a:lnSpc>
            </a:pPr>
            <a:r>
              <a:rPr lang="en-US" sz="25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New pathways to career growth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10477500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Next: a study system</a:t>
            </a:r>
          </a:p>
          <a:p>
            <a:pPr algn="l">
              <a:lnSpc>
                <a:spcPts val="5550"/>
              </a:lnSpc>
            </a:pPr>
            <a:r>
              <a:rPr lang="en-US" sz="5550" b="true">
                <a:solidFill>
                  <a:srgbClr val="11111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that adapts to you.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3714750"/>
            <a:ext cx="4953000" cy="2381250"/>
            <a:chOff x="0" y="0"/>
            <a:chExt cx="6604000" cy="317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3175000"/>
              <a:chOff x="0" y="0"/>
              <a:chExt cx="6604000" cy="317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6F173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82600" y="571500"/>
              <a:ext cx="56388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AI STUDY COACH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82600" y="1266825"/>
              <a:ext cx="56388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Personal tutoring + adaptive explanations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7000" y="3714750"/>
            <a:ext cx="4953000" cy="2381250"/>
            <a:chOff x="0" y="0"/>
            <a:chExt cx="6604000" cy="3175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604000" cy="3175000"/>
              <a:chOff x="0" y="0"/>
              <a:chExt cx="6604000" cy="3175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0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60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2600" y="571500"/>
              <a:ext cx="56388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FLASHCARDS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2600" y="1266825"/>
              <a:ext cx="56388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Active recall, built into the learning loop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06250" y="3714750"/>
            <a:ext cx="4953000" cy="2381250"/>
            <a:chOff x="0" y="0"/>
            <a:chExt cx="6604000" cy="3175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604000" cy="3175000"/>
              <a:chOff x="0" y="0"/>
              <a:chExt cx="6604000" cy="317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60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82600" y="571500"/>
              <a:ext cx="56388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STUDY PLANNER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1266825"/>
              <a:ext cx="56388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Personal schedules with achievable milestones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62375" y="7000875"/>
            <a:ext cx="6762750" cy="2381250"/>
            <a:chOff x="0" y="0"/>
            <a:chExt cx="9017000" cy="3175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017000" cy="3175000"/>
              <a:chOff x="0" y="0"/>
              <a:chExt cx="9017000" cy="317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017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9017000">
                    <a:moveTo>
                      <a:pt x="0" y="0"/>
                    </a:moveTo>
                    <a:lnTo>
                      <a:pt x="9017000" y="0"/>
                    </a:lnTo>
                    <a:lnTo>
                      <a:pt x="9017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017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571500"/>
              <a:ext cx="80518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ADVANCED ANALYTICS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1266825"/>
              <a:ext cx="80518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Deeper topic-performance signals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01375" y="7000875"/>
            <a:ext cx="6762750" cy="2381250"/>
            <a:chOff x="0" y="0"/>
            <a:chExt cx="9017000" cy="3175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9017000" cy="3175000"/>
              <a:chOff x="0" y="0"/>
              <a:chExt cx="9017000" cy="3175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017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9017000">
                    <a:moveTo>
                      <a:pt x="0" y="0"/>
                    </a:moveTo>
                    <a:lnTo>
                      <a:pt x="9017000" y="0"/>
                    </a:lnTo>
                    <a:lnTo>
                      <a:pt x="9017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72F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9017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82600" y="571500"/>
              <a:ext cx="8051800" cy="500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MULTI-LANGUAGE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82600" y="1266825"/>
              <a:ext cx="8051800" cy="40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8EE3D2"/>
                  </a:solidFill>
                  <a:latin typeface="DM Sans"/>
                  <a:ea typeface="DM Sans"/>
                  <a:cs typeface="DM Sans"/>
                  <a:sym typeface="DM Sans"/>
                </a:rPr>
                <a:t>Broader access across Africa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DAHY24Qp1SQ</dc:identifier>
  <dcterms:modified xsi:type="dcterms:W3CDTF">2011-08-01T06:04:30Z</dcterms:modified>
  <cp:revision>1</cp:revision>
  <dc:title>AZ-900 Smart Quiz Builder</dc:title>
</cp:coreProperties>
</file>